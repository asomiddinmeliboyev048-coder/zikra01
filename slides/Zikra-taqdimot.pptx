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Inter"/>
        </a:defRPr>
      </a:lvl1pPr>
    </p:titleStyle>
    <p:bodyStyle>
      <a:lvl1pPr>
        <a:defRPr sz="1800">
          <a:solidFill>
            <a:schemeClr val="tx1"/>
          </a:solidFill>
          <a:latin typeface="Inter"/>
        </a:defRPr>
      </a:lvl1pPr>
    </p:bodyStyle>
    <p:otherStyle>
      <a:lvl1pPr>
        <a:defRPr sz="1800">
          <a:solidFill>
            <a:schemeClr val="tx1"/>
          </a:solidFill>
          <a:latin typeface="Inter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A3380"/>
            </a:gs>
            <a:gs pos="55000">
              <a:srgbClr val="221D49"/>
            </a:gs>
            <a:gs pos="100000">
              <a:srgbClr val="14122B"/>
            </a:gs>
          </a:gsLst>
          <a:lin ang="30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dge"/>
          <p:cNvSpPr/>
          <p:nvPr/>
        </p:nvSpPr>
        <p:spPr>
          <a:xfrm>
            <a:off x="5638800" y="1051560"/>
            <a:ext cx="914400" cy="914400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34AB7"/>
              </a:gs>
              <a:gs pos="100000">
                <a:srgbClr val="1D9E75"/>
              </a:gs>
            </a:gsLst>
            <a:lin ang="2700000" scaled="1"/>
          </a:gradFill>
          <a:ln>
            <a:noFill/>
          </a:ln>
        </p:spPr>
        <p:txBody>
          <a:bodyPr anchor="ctr"/>
          <a:lstStyle/>
          <a:p>
            <a:pPr algn="ctr"/>
            <a:r>
              <a:rPr lang="uz-UZ" sz="3200" b="1" i="0" dirty="0">
                <a:solidFill>
                  <a:srgbClr val="FFFFFF"/>
                </a:solidFill>
                <a:latin typeface="Inter"/>
                <a:cs typeface="Inter"/>
              </a:rPr>
              <a:t>Z</a:t>
            </a:r>
          </a:p>
        </p:txBody>
      </p:sp>
      <p:sp>
        <p:nvSpPr>
          <p:cNvPr id="12" name="tb13"/>
          <p:cNvSpPr txBox="1"/>
          <p:nvPr/>
        </p:nvSpPr>
        <p:spPr>
          <a:xfrm>
            <a:off x="0" y="214884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300" b="1" i="0" dirty="0">
                <a:solidFill>
                  <a:srgbClr val="B9B4E8"/>
                </a:solidFill>
                <a:latin typeface="Inter"/>
                <a:cs typeface="Inter"/>
              </a:rPr>
              <a:t>O'ZBEKISTONDA BIRINCHI  ·  DUNYODA O'ZIGA XOS</a:t>
            </a:r>
          </a:p>
        </p:txBody>
      </p:sp>
      <p:sp>
        <p:nvSpPr>
          <p:cNvPr id="14" name="tb15"/>
          <p:cNvSpPr txBox="1"/>
          <p:nvPr/>
        </p:nvSpPr>
        <p:spPr>
          <a:xfrm>
            <a:off x="0" y="2606040"/>
            <a:ext cx="12192000" cy="155448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8000" b="1" i="0" dirty="0">
                <a:solidFill>
                  <a:srgbClr val="FFFFFF"/>
                </a:solidFill>
                <a:latin typeface="Inter"/>
                <a:cs typeface="Inter"/>
              </a:rPr>
              <a:t>Zikra</a:t>
            </a:r>
          </a:p>
        </p:txBody>
      </p:sp>
      <p:sp>
        <p:nvSpPr>
          <p:cNvPr id="16" name="tb17"/>
          <p:cNvSpPr txBox="1"/>
          <p:nvPr/>
        </p:nvSpPr>
        <p:spPr>
          <a:xfrm>
            <a:off x="0" y="4069080"/>
            <a:ext cx="1219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2600" b="1" i="0" dirty="0">
                <a:solidFill>
                  <a:srgbClr val="FFFFFF"/>
                </a:solidFill>
                <a:latin typeface="Inter"/>
                <a:cs typeface="Inter"/>
              </a:rPr>
              <a:t>Bilim qoldiring, tajriba oling</a:t>
            </a:r>
          </a:p>
        </p:txBody>
      </p:sp>
      <p:sp>
        <p:nvSpPr>
          <p:cNvPr id="18" name="tb19"/>
          <p:cNvSpPr txBox="1"/>
          <p:nvPr/>
        </p:nvSpPr>
        <p:spPr>
          <a:xfrm>
            <a:off x="0" y="4709160"/>
            <a:ext cx="1219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700" b="0" i="0" dirty="0">
                <a:solidFill>
                  <a:srgbClr val="C9C5EA"/>
                </a:solidFill>
                <a:latin typeface="Inter"/>
                <a:cs typeface="Inter"/>
              </a:rPr>
              <a:t>Bepul P2P ko'nikma almashish platformasi</a:t>
            </a:r>
          </a:p>
        </p:txBody>
      </p:sp>
      <p:sp>
        <p:nvSpPr>
          <p:cNvPr id="20" name="tb21"/>
          <p:cNvSpPr txBox="1"/>
          <p:nvPr/>
        </p:nvSpPr>
        <p:spPr>
          <a:xfrm>
            <a:off x="0" y="5303520"/>
            <a:ext cx="1219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600" b="1" i="1" dirty="0">
                <a:solidFill>
                  <a:srgbClr val="7FE7C4"/>
                </a:solidFill>
                <a:latin typeface="Inter"/>
                <a:cs typeface="Inter"/>
              </a:rPr>
              <a:t>Learn. Teach. Be remembered.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b23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534AB7"/>
                </a:solidFill>
                <a:latin typeface="Inter"/>
                <a:cs typeface="Inter"/>
              </a:rPr>
              <a:t>MUAMMO</a:t>
            </a:r>
          </a:p>
        </p:txBody>
      </p:sp>
      <p:sp>
        <p:nvSpPr>
          <p:cNvPr id="24" name="tb25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16151F"/>
                </a:solidFill>
                <a:latin typeface="Inter"/>
                <a:cs typeface="Inter"/>
              </a:rPr>
              <a:t>Bilim olish qimmat va qiyin</a:t>
            </a:r>
          </a:p>
        </p:txBody>
      </p:sp>
      <p:sp>
        <p:nvSpPr>
          <p:cNvPr id="26" name="tb27"/>
          <p:cNvSpPr txBox="1"/>
          <p:nvPr/>
        </p:nvSpPr>
        <p:spPr>
          <a:xfrm>
            <a:off x="841248" y="2286000"/>
            <a:ext cx="50718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💸</a:t>
            </a:r>
          </a:p>
          <a:p>
            <a:pPr algn="l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Kurslar qimmat</a:t>
            </a:r>
          </a:p>
          <a:p>
            <a:pPr algn="l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Sifatli ta'lim va repetitorlar ko'pchilik uchun arzon emas.</a:t>
            </a:r>
          </a:p>
        </p:txBody>
      </p:sp>
      <p:sp>
        <p:nvSpPr>
          <p:cNvPr id="28" name="tb29"/>
          <p:cNvSpPr txBox="1"/>
          <p:nvPr/>
        </p:nvSpPr>
        <p:spPr>
          <a:xfrm>
            <a:off x="6278880" y="2286000"/>
            <a:ext cx="50718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⏳</a:t>
            </a:r>
          </a:p>
          <a:p>
            <a:pPr algn="l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Vaqt va masofa</a:t>
            </a:r>
          </a:p>
          <a:p>
            <a:pPr algn="l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O'quv markazlariga borish vaqt va resurs talab qiladi.</a:t>
            </a:r>
          </a:p>
        </p:txBody>
      </p:sp>
      <p:sp>
        <p:nvSpPr>
          <p:cNvPr id="30" name="tb31"/>
          <p:cNvSpPr txBox="1"/>
          <p:nvPr/>
        </p:nvSpPr>
        <p:spPr>
          <a:xfrm>
            <a:off x="841248" y="4251960"/>
            <a:ext cx="50718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🧩</a:t>
            </a:r>
          </a:p>
          <a:p>
            <a:pPr algn="l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Bilim sarflanmaydi</a:t>
            </a:r>
          </a:p>
          <a:p>
            <a:pPr algn="l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Har kim nimanidir biladi, lekin uni ulashish platformasi yo'q.</a:t>
            </a:r>
          </a:p>
        </p:txBody>
      </p:sp>
      <p:sp>
        <p:nvSpPr>
          <p:cNvPr id="32" name="tb33"/>
          <p:cNvSpPr txBox="1"/>
          <p:nvPr/>
        </p:nvSpPr>
        <p:spPr>
          <a:xfrm>
            <a:off x="6278880" y="4251960"/>
            <a:ext cx="50718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🤷</a:t>
            </a:r>
          </a:p>
          <a:p>
            <a:pPr algn="l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Motivatsiya yo'q</a:t>
            </a:r>
          </a:p>
          <a:p>
            <a:pPr algn="l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O'z-o'zini o'rgatish zerikarli — natija va rag'bat ko'rinmaydi.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63E9E"/>
            </a:gs>
            <a:gs pos="100000">
              <a:srgbClr val="1A1740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b35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B9B4E8"/>
                </a:solidFill>
                <a:latin typeface="Inter"/>
                <a:cs typeface="Inter"/>
              </a:rPr>
              <a:t>YECHIM</a:t>
            </a:r>
          </a:p>
        </p:txBody>
      </p:sp>
      <p:sp>
        <p:nvSpPr>
          <p:cNvPr id="36" name="tb37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FFFFFF"/>
                </a:solidFill>
                <a:latin typeface="Inter"/>
                <a:cs typeface="Inter"/>
              </a:rPr>
              <a:t>Bilim — yangi valyuta</a:t>
            </a:r>
          </a:p>
        </p:txBody>
      </p:sp>
      <p:sp>
        <p:nvSpPr>
          <p:cNvPr id="38" name="tb39"/>
          <p:cNvSpPr txBox="1"/>
          <p:nvPr/>
        </p:nvSpPr>
        <p:spPr>
          <a:xfrm>
            <a:off x="841248" y="1965960"/>
            <a:ext cx="10509504" cy="5486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700" b="0" i="0" dirty="0">
                <a:solidFill>
                  <a:srgbClr val="E3E0F6"/>
                </a:solidFill>
                <a:latin typeface="Inter"/>
                <a:cs typeface="Inter"/>
              </a:rPr>
              <a:t>Zikra orqali odamlar pul to'lamasdan bir-biridan o'rganadi.</a:t>
            </a:r>
          </a:p>
        </p:txBody>
      </p:sp>
      <p:sp>
        <p:nvSpPr>
          <p:cNvPr id="40" name="tb41"/>
          <p:cNvSpPr txBox="1"/>
          <p:nvPr/>
        </p:nvSpPr>
        <p:spPr>
          <a:xfrm>
            <a:off x="841248" y="27432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2000" b="1" i="0" dirty="0">
                <a:solidFill>
                  <a:srgbClr val="16151F"/>
                </a:solidFill>
                <a:latin typeface="Inter"/>
                <a:cs typeface="Inter"/>
              </a:rPr>
              <a:t>Madina</a:t>
            </a:r>
          </a:p>
          <a:p>
            <a:pPr algn="l">
              <a:spcBef>
                <a:spcPts val="800"/>
              </a:spcBef>
            </a:pPr>
            <a:r>
              <a:rPr lang="uz-UZ" sz="1500" b="1" i="0" dirty="0">
                <a:solidFill>
                  <a:srgbClr val="1D9E75"/>
                </a:solidFill>
                <a:latin typeface="Inter"/>
                <a:cs typeface="Inter"/>
              </a:rPr>
              <a:t>O'rgatadi:  Ingliz tili</a:t>
            </a:r>
          </a:p>
          <a:p>
            <a:pPr algn="l">
              <a:spcBef>
                <a:spcPts val="400"/>
              </a:spcBef>
            </a:pPr>
            <a:r>
              <a:rPr lang="uz-UZ" sz="1500" b="1" i="0" dirty="0">
                <a:solidFill>
                  <a:srgbClr val="534AB7"/>
                </a:solidFill>
                <a:latin typeface="Inter"/>
                <a:cs typeface="Inter"/>
              </a:rPr>
              <a:t>O'rganmoqchi:  Python</a:t>
            </a:r>
          </a:p>
        </p:txBody>
      </p:sp>
      <p:sp>
        <p:nvSpPr>
          <p:cNvPr id="42" name="tb43"/>
          <p:cNvSpPr txBox="1"/>
          <p:nvPr/>
        </p:nvSpPr>
        <p:spPr>
          <a:xfrm>
            <a:off x="5638800" y="3246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4000" b="0" i="0" dirty="0">
                <a:solidFill>
                  <a:srgbClr val="D85A30"/>
                </a:solidFill>
                <a:latin typeface="Inter"/>
                <a:cs typeface="Inter"/>
              </a:rPr>
              <a:t>🔁</a:t>
            </a:r>
          </a:p>
        </p:txBody>
      </p:sp>
      <p:sp>
        <p:nvSpPr>
          <p:cNvPr id="44" name="tb45"/>
          <p:cNvSpPr txBox="1"/>
          <p:nvPr/>
        </p:nvSpPr>
        <p:spPr>
          <a:xfrm>
            <a:off x="7693152" y="2743200"/>
            <a:ext cx="3657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2000" b="1" i="0" dirty="0">
                <a:solidFill>
                  <a:srgbClr val="16151F"/>
                </a:solidFill>
                <a:latin typeface="Inter"/>
                <a:cs typeface="Inter"/>
              </a:rPr>
              <a:t>Jasur</a:t>
            </a:r>
          </a:p>
          <a:p>
            <a:pPr algn="l">
              <a:spcBef>
                <a:spcPts val="800"/>
              </a:spcBef>
            </a:pPr>
            <a:r>
              <a:rPr lang="uz-UZ" sz="1500" b="1" i="0" dirty="0">
                <a:solidFill>
                  <a:srgbClr val="1D9E75"/>
                </a:solidFill>
                <a:latin typeface="Inter"/>
                <a:cs typeface="Inter"/>
              </a:rPr>
              <a:t>O'rgatadi:  Python</a:t>
            </a:r>
          </a:p>
          <a:p>
            <a:pPr algn="l">
              <a:spcBef>
                <a:spcPts val="400"/>
              </a:spcBef>
            </a:pPr>
            <a:r>
              <a:rPr lang="uz-UZ" sz="1500" b="1" i="0" dirty="0">
                <a:solidFill>
                  <a:srgbClr val="534AB7"/>
                </a:solidFill>
                <a:latin typeface="Inter"/>
                <a:cs typeface="Inter"/>
              </a:rPr>
              <a:t>O'rganmoqchi:  Ingliz tili</a:t>
            </a:r>
          </a:p>
        </p:txBody>
      </p:sp>
      <p:sp>
        <p:nvSpPr>
          <p:cNvPr id="46" name="tb47"/>
          <p:cNvSpPr txBox="1"/>
          <p:nvPr/>
        </p:nvSpPr>
        <p:spPr>
          <a:xfrm>
            <a:off x="841248" y="5120640"/>
            <a:ext cx="10509504" cy="64008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800" b="1" i="1" dirty="0">
                <a:solidFill>
                  <a:srgbClr val="FFFFFF"/>
                </a:solidFill>
                <a:latin typeface="Inter"/>
                <a:cs typeface="Inter"/>
              </a:rPr>
              <a:t>“Sen menga Python o'rgat, men senga Ingliz tili o'rgataman.”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b49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534AB7"/>
                </a:solidFill>
                <a:latin typeface="Inter"/>
                <a:cs typeface="Inter"/>
              </a:rPr>
              <a:t>ODDIY VA TEZ</a:t>
            </a:r>
          </a:p>
        </p:txBody>
      </p:sp>
      <p:sp>
        <p:nvSpPr>
          <p:cNvPr id="50" name="tb51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16151F"/>
                </a:solidFill>
                <a:latin typeface="Inter"/>
                <a:cs typeface="Inter"/>
              </a:rPr>
              <a:t>Qanday ishlaydi?</a:t>
            </a:r>
          </a:p>
        </p:txBody>
      </p:sp>
      <p:sp>
        <p:nvSpPr>
          <p:cNvPr id="52" name="tb53"/>
          <p:cNvSpPr txBox="1"/>
          <p:nvPr/>
        </p:nvSpPr>
        <p:spPr>
          <a:xfrm>
            <a:off x="841248" y="2377440"/>
            <a:ext cx="640080" cy="64008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ctr"/>
            <a:r>
              <a:rPr lang="uz-UZ" sz="2200" b="1" i="0" dirty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54" name="tb55"/>
          <p:cNvSpPr txBox="1"/>
          <p:nvPr/>
        </p:nvSpPr>
        <p:spPr>
          <a:xfrm>
            <a:off x="841248" y="3246120"/>
            <a:ext cx="325932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2800" b="0" i="0" dirty="0">
                <a:solidFill>
                  <a:srgbClr val="16151F"/>
                </a:solidFill>
                <a:latin typeface="Inter"/>
                <a:cs typeface="Inter"/>
              </a:rPr>
              <a:t>📝</a:t>
            </a:r>
          </a:p>
          <a:p>
            <a:pPr algn="l">
              <a:spcBef>
                <a:spcPts val="600"/>
              </a:spcBef>
            </a:pPr>
            <a:r>
              <a:rPr lang="uz-UZ" sz="1800" b="1" i="0" dirty="0">
                <a:solidFill>
                  <a:srgbClr val="16151F"/>
                </a:solidFill>
                <a:latin typeface="Inter"/>
                <a:cs typeface="Inter"/>
              </a:rPr>
              <a:t>Profil yarating</a:t>
            </a:r>
          </a:p>
          <a:p>
            <a:pPr algn="l">
              <a:spcBef>
                <a:spcPts val="400"/>
              </a:spcBef>
            </a:pPr>
            <a:r>
              <a:rPr lang="uz-UZ" sz="1250" b="0" i="0" dirty="0">
                <a:solidFill>
                  <a:srgbClr val="5F5D70"/>
                </a:solidFill>
                <a:latin typeface="Inter"/>
                <a:cs typeface="Inter"/>
              </a:rPr>
              <a:t>Nimani o'rgata olishingiz va nimani o'rganmoqchi ekanligingizni belgilang.</a:t>
            </a:r>
          </a:p>
        </p:txBody>
      </p:sp>
      <p:sp>
        <p:nvSpPr>
          <p:cNvPr id="56" name="tb57"/>
          <p:cNvSpPr txBox="1"/>
          <p:nvPr/>
        </p:nvSpPr>
        <p:spPr>
          <a:xfrm>
            <a:off x="4466336" y="2377440"/>
            <a:ext cx="640080" cy="64008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ctr"/>
            <a:r>
              <a:rPr lang="uz-UZ" sz="2200" b="1" i="0" dirty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58" name="tb59"/>
          <p:cNvSpPr txBox="1"/>
          <p:nvPr/>
        </p:nvSpPr>
        <p:spPr>
          <a:xfrm>
            <a:off x="4466336" y="3246120"/>
            <a:ext cx="325932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2800" b="0" i="0" dirty="0">
                <a:solidFill>
                  <a:srgbClr val="16151F"/>
                </a:solidFill>
                <a:latin typeface="Inter"/>
                <a:cs typeface="Inter"/>
              </a:rPr>
              <a:t>🔍</a:t>
            </a:r>
          </a:p>
          <a:p>
            <a:pPr algn="l">
              <a:spcBef>
                <a:spcPts val="600"/>
              </a:spcBef>
            </a:pPr>
            <a:r>
              <a:rPr lang="uz-UZ" sz="1800" b="1" i="0" dirty="0">
                <a:solidFill>
                  <a:srgbClr val="16151F"/>
                </a:solidFill>
                <a:latin typeface="Inter"/>
                <a:cs typeface="Inter"/>
              </a:rPr>
              <a:t>Mos hamkor toping</a:t>
            </a:r>
          </a:p>
          <a:p>
            <a:pPr algn="l">
              <a:spcBef>
                <a:spcPts val="400"/>
              </a:spcBef>
            </a:pPr>
            <a:r>
              <a:rPr lang="uz-UZ" sz="1250" b="0" i="0" dirty="0">
                <a:solidFill>
                  <a:srgbClr val="5F5D70"/>
                </a:solidFill>
                <a:latin typeface="Inter"/>
                <a:cs typeface="Inter"/>
              </a:rPr>
              <a:t>Moslik algoritmi eng mos odamlarni ko'rsatadi — o'zaro almashinuv 100%.</a:t>
            </a:r>
          </a:p>
        </p:txBody>
      </p:sp>
      <p:sp>
        <p:nvSpPr>
          <p:cNvPr id="60" name="tb61"/>
          <p:cNvSpPr txBox="1"/>
          <p:nvPr/>
        </p:nvSpPr>
        <p:spPr>
          <a:xfrm>
            <a:off x="8091424" y="2377440"/>
            <a:ext cx="640080" cy="64008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ctr"/>
            <a:r>
              <a:rPr lang="uz-UZ" sz="2200" b="1" i="0" dirty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62" name="tb63"/>
          <p:cNvSpPr txBox="1"/>
          <p:nvPr/>
        </p:nvSpPr>
        <p:spPr>
          <a:xfrm>
            <a:off x="8091424" y="3246120"/>
            <a:ext cx="325932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2800" b="0" i="0" dirty="0">
                <a:solidFill>
                  <a:srgbClr val="16151F"/>
                </a:solidFill>
                <a:latin typeface="Inter"/>
                <a:cs typeface="Inter"/>
              </a:rPr>
              <a:t>🚀</a:t>
            </a:r>
          </a:p>
          <a:p>
            <a:pPr algn="l">
              <a:spcBef>
                <a:spcPts val="600"/>
              </a:spcBef>
            </a:pPr>
            <a:r>
              <a:rPr lang="uz-UZ" sz="1800" b="1" i="0" dirty="0">
                <a:solidFill>
                  <a:srgbClr val="16151F"/>
                </a:solidFill>
                <a:latin typeface="Inter"/>
                <a:cs typeface="Inter"/>
              </a:rPr>
              <a:t>O'rganing va o'rgating</a:t>
            </a:r>
          </a:p>
          <a:p>
            <a:pPr algn="l">
              <a:spcBef>
                <a:spcPts val="400"/>
              </a:spcBef>
            </a:pPr>
            <a:r>
              <a:rPr lang="uz-UZ" sz="1250" b="0" i="0" dirty="0">
                <a:solidFill>
                  <a:srgbClr val="5F5D70"/>
                </a:solidFill>
                <a:latin typeface="Inter"/>
                <a:cs typeface="Inter"/>
              </a:rPr>
              <a:t>Chat orqali bog'laning, dars o'ting, baho oling va XP yig'ing.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b65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534AB7"/>
                </a:solidFill>
                <a:latin typeface="Inter"/>
                <a:cs typeface="Inter"/>
              </a:rPr>
              <a:t>MAHSULOT</a:t>
            </a:r>
          </a:p>
        </p:txBody>
      </p:sp>
      <p:sp>
        <p:nvSpPr>
          <p:cNvPr id="66" name="tb67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16151F"/>
                </a:solidFill>
                <a:latin typeface="Inter"/>
                <a:cs typeface="Inter"/>
              </a:rPr>
              <a:t>Asosiy imkoniyatlar</a:t>
            </a:r>
          </a:p>
        </p:txBody>
      </p:sp>
      <p:sp>
        <p:nvSpPr>
          <p:cNvPr id="68" name="tb69"/>
          <p:cNvSpPr txBox="1"/>
          <p:nvPr/>
        </p:nvSpPr>
        <p:spPr>
          <a:xfrm>
            <a:off x="841248" y="2148840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🔍   Moslik algoritmi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O'zaro almashinuv = 100% moslik, qidiruv va filtrlar.</a:t>
            </a:r>
          </a:p>
        </p:txBody>
      </p:sp>
      <p:sp>
        <p:nvSpPr>
          <p:cNvPr id="70" name="tb71"/>
          <p:cNvSpPr txBox="1"/>
          <p:nvPr/>
        </p:nvSpPr>
        <p:spPr>
          <a:xfrm>
            <a:off x="6278880" y="2148840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💬   Real-time chat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Supabase Realtime, video havola ulashish.</a:t>
            </a:r>
          </a:p>
        </p:txBody>
      </p:sp>
      <p:sp>
        <p:nvSpPr>
          <p:cNvPr id="72" name="tb73"/>
          <p:cNvSpPr txBox="1"/>
          <p:nvPr/>
        </p:nvSpPr>
        <p:spPr>
          <a:xfrm>
            <a:off x="841248" y="3227832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📞   Video/ovozli qo'ng'iroq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WebRTC + TURN — turli tarmoqlar orasida.</a:t>
            </a:r>
          </a:p>
        </p:txBody>
      </p:sp>
      <p:sp>
        <p:nvSpPr>
          <p:cNvPr id="74" name="tb75"/>
          <p:cNvSpPr txBox="1"/>
          <p:nvPr/>
        </p:nvSpPr>
        <p:spPr>
          <a:xfrm>
            <a:off x="6278880" y="3227832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🎬   Video darslar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Yuklash, like, izoh, ko'rishlar soni.</a:t>
            </a:r>
          </a:p>
        </p:txBody>
      </p:sp>
      <p:sp>
        <p:nvSpPr>
          <p:cNvPr id="76" name="tb77"/>
          <p:cNvSpPr txBox="1"/>
          <p:nvPr/>
        </p:nvSpPr>
        <p:spPr>
          <a:xfrm>
            <a:off x="841248" y="4306824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⭐   Ikki tomonlama baho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1–5 yulduz, ikkala tomon baholaganda ochiladi.</a:t>
            </a:r>
          </a:p>
        </p:txBody>
      </p:sp>
      <p:sp>
        <p:nvSpPr>
          <p:cNvPr id="78" name="tb79"/>
          <p:cNvSpPr txBox="1"/>
          <p:nvPr/>
        </p:nvSpPr>
        <p:spPr>
          <a:xfrm>
            <a:off x="6278880" y="4306824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🏆   Gamifikatsiya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XP, 5 daraja, avtomatik nishonlar, streak.</a:t>
            </a:r>
          </a:p>
        </p:txBody>
      </p:sp>
      <p:sp>
        <p:nvSpPr>
          <p:cNvPr id="80" name="tb81"/>
          <p:cNvSpPr txBox="1"/>
          <p:nvPr/>
        </p:nvSpPr>
        <p:spPr>
          <a:xfrm>
            <a:off x="841248" y="5385816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📰   Stories &amp; obuna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Hikoyalar, follow, yangiliklar tasmasi.</a:t>
            </a:r>
          </a:p>
        </p:txBody>
      </p:sp>
      <p:sp>
        <p:nvSpPr>
          <p:cNvPr id="82" name="tb83"/>
          <p:cNvSpPr txBox="1"/>
          <p:nvPr/>
        </p:nvSpPr>
        <p:spPr>
          <a:xfrm>
            <a:off x="6278880" y="5385816"/>
            <a:ext cx="5071872" cy="914400"/>
          </a:xfrm>
          <a:prstGeom prst="roundRect">
            <a:avLst/>
          </a:prstGeom>
          <a:solidFill>
            <a:srgbClr val="EEEDF8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🔔   Push bildirishnoma</a:t>
            </a:r>
          </a:p>
          <a:p>
            <a:pPr algn="l">
              <a:spcBef>
                <a:spcPts val="300"/>
              </a:spcBef>
            </a:pPr>
            <a:r>
              <a:rPr lang="uz-UZ" sz="1150" b="0" i="0" dirty="0">
                <a:solidFill>
                  <a:srgbClr val="5F5D70"/>
                </a:solidFill>
                <a:latin typeface="Inter"/>
                <a:cs typeface="Inter"/>
              </a:rPr>
              <a:t>Ilova yopiq bo'lsa ham (Firebase FCM).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b85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534AB7"/>
                </a:solidFill>
                <a:latin typeface="Inter"/>
                <a:cs typeface="Inter"/>
              </a:rPr>
              <a:t>FARQIMIZ</a:t>
            </a:r>
          </a:p>
        </p:txBody>
      </p:sp>
      <p:sp>
        <p:nvSpPr>
          <p:cNvPr id="86" name="tb87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16151F"/>
                </a:solidFill>
                <a:latin typeface="Inter"/>
                <a:cs typeface="Inter"/>
              </a:rPr>
              <a:t>Nega Zikra noyob?</a:t>
            </a:r>
          </a:p>
        </p:txBody>
      </p:sp>
      <p:sp>
        <p:nvSpPr>
          <p:cNvPr id="88" name="tb89"/>
          <p:cNvSpPr txBox="1"/>
          <p:nvPr/>
        </p:nvSpPr>
        <p:spPr>
          <a:xfrm>
            <a:off x="841248" y="2377440"/>
            <a:ext cx="235305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💸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534AB7"/>
                </a:solidFill>
                <a:latin typeface="Inter"/>
                <a:cs typeface="Inter"/>
              </a:rPr>
              <a:t>To'liq bepul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To'lov, obuna yoki yashirin xarajat yo'q.</a:t>
            </a:r>
          </a:p>
        </p:txBody>
      </p:sp>
      <p:sp>
        <p:nvSpPr>
          <p:cNvPr id="90" name="tb91"/>
          <p:cNvSpPr txBox="1"/>
          <p:nvPr/>
        </p:nvSpPr>
        <p:spPr>
          <a:xfrm>
            <a:off x="3560064" y="2377440"/>
            <a:ext cx="235305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🔁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1D9E75"/>
                </a:solidFill>
                <a:latin typeface="Inter"/>
                <a:cs typeface="Inter"/>
              </a:rPr>
              <a:t>O'zaro almashinuv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Pul emas, bilim valyuta. Sen o'rgat, sen o'rgan.</a:t>
            </a:r>
          </a:p>
        </p:txBody>
      </p:sp>
      <p:sp>
        <p:nvSpPr>
          <p:cNvPr id="92" name="tb93"/>
          <p:cNvSpPr txBox="1"/>
          <p:nvPr/>
        </p:nvSpPr>
        <p:spPr>
          <a:xfrm>
            <a:off x="6278880" y="2377440"/>
            <a:ext cx="235305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🏆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D85A30"/>
                </a:solidFill>
                <a:latin typeface="Inter"/>
                <a:cs typeface="Inter"/>
              </a:rPr>
              <a:t>Gamifikatsiya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XP, darajalar, nishonlar — qiziqarli.</a:t>
            </a:r>
          </a:p>
        </p:txBody>
      </p:sp>
      <p:sp>
        <p:nvSpPr>
          <p:cNvPr id="94" name="tb95"/>
          <p:cNvSpPr txBox="1"/>
          <p:nvPr/>
        </p:nvSpPr>
        <p:spPr>
          <a:xfrm>
            <a:off x="8997696" y="2377440"/>
            <a:ext cx="235305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🇺🇿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534AB7"/>
                </a:solidFill>
                <a:latin typeface="Inter"/>
                <a:cs typeface="Inter"/>
              </a:rPr>
              <a:t>O'zbekcha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To'liq o'zbek tilida, mahalliy hamjamiyat uchun.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b97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534AB7"/>
                </a:solidFill>
                <a:latin typeface="Inter"/>
                <a:cs typeface="Inter"/>
              </a:rPr>
              <a:t>RAG'BAT</a:t>
            </a:r>
          </a:p>
        </p:txBody>
      </p:sp>
      <p:sp>
        <p:nvSpPr>
          <p:cNvPr id="98" name="tb99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16151F"/>
                </a:solidFill>
                <a:latin typeface="Inter"/>
                <a:cs typeface="Inter"/>
              </a:rPr>
              <a:t>O'rganishni o'yinga aylantiramiz</a:t>
            </a:r>
          </a:p>
        </p:txBody>
      </p:sp>
      <p:sp>
        <p:nvSpPr>
          <p:cNvPr id="100" name="tb101"/>
          <p:cNvSpPr txBox="1"/>
          <p:nvPr/>
        </p:nvSpPr>
        <p:spPr>
          <a:xfrm>
            <a:off x="841248" y="2377440"/>
            <a:ext cx="235305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⚡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XP ballari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Har bir dars va baho uchun tajriba.</a:t>
            </a:r>
          </a:p>
        </p:txBody>
      </p:sp>
      <p:sp>
        <p:nvSpPr>
          <p:cNvPr id="102" name="tb103"/>
          <p:cNvSpPr txBox="1"/>
          <p:nvPr/>
        </p:nvSpPr>
        <p:spPr>
          <a:xfrm>
            <a:off x="3560064" y="2377440"/>
            <a:ext cx="235305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📈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5 daraja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XP ortishi bilan yangi darajalar.</a:t>
            </a:r>
          </a:p>
        </p:txBody>
      </p:sp>
      <p:sp>
        <p:nvSpPr>
          <p:cNvPr id="104" name="tb105"/>
          <p:cNvSpPr txBox="1"/>
          <p:nvPr/>
        </p:nvSpPr>
        <p:spPr>
          <a:xfrm>
            <a:off x="6278880" y="2377440"/>
            <a:ext cx="235305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🎖️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Nishonlar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Yutuqlarga avtomatik badge'lar.</a:t>
            </a:r>
          </a:p>
        </p:txBody>
      </p:sp>
      <p:sp>
        <p:nvSpPr>
          <p:cNvPr id="106" name="tb107"/>
          <p:cNvSpPr txBox="1"/>
          <p:nvPr/>
        </p:nvSpPr>
        <p:spPr>
          <a:xfrm>
            <a:off x="8997696" y="2377440"/>
            <a:ext cx="235305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200" b="0" i="0" dirty="0">
                <a:solidFill>
                  <a:srgbClr val="16151F"/>
                </a:solidFill>
                <a:latin typeface="Inter"/>
                <a:cs typeface="Inter"/>
              </a:rPr>
              <a:t>🔥</a:t>
            </a:r>
          </a:p>
          <a:p>
            <a:pPr algn="ctr">
              <a:spcBef>
                <a:spcPts val="600"/>
              </a:spcBef>
            </a:pPr>
            <a:r>
              <a:rPr lang="uz-UZ" sz="1700" b="1" i="0" dirty="0">
                <a:solidFill>
                  <a:srgbClr val="16151F"/>
                </a:solidFill>
                <a:latin typeface="Inter"/>
                <a:cs typeface="Inter"/>
              </a:rPr>
              <a:t>Streak</a:t>
            </a:r>
          </a:p>
          <a:p>
            <a:pPr algn="ctr">
              <a:spcBef>
                <a:spcPts val="4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Ketma-ket faollik hisoblanadi.</a:t>
            </a:r>
          </a:p>
        </p:txBody>
      </p:sp>
      <p:sp>
        <p:nvSpPr>
          <p:cNvPr id="108" name="tb109"/>
          <p:cNvSpPr txBox="1"/>
          <p:nvPr/>
        </p:nvSpPr>
        <p:spPr>
          <a:xfrm>
            <a:off x="841248" y="5074920"/>
            <a:ext cx="10509504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300" b="0" i="1" dirty="0">
                <a:solidFill>
                  <a:srgbClr val="5F5D70"/>
                </a:solidFill>
                <a:latin typeface="Inter"/>
                <a:cs typeface="Inter"/>
              </a:rPr>
              <a:t>Barchasi ma'lumotlar bazasi triggerlari orqali avtomatik ishlaydi.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b111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534AB7"/>
                </a:solidFill>
                <a:latin typeface="Inter"/>
                <a:cs typeface="Inter"/>
              </a:rPr>
              <a:t>ARXITEKTURA</a:t>
            </a:r>
          </a:p>
        </p:txBody>
      </p:sp>
      <p:sp>
        <p:nvSpPr>
          <p:cNvPr id="112" name="tb113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16151F"/>
                </a:solidFill>
                <a:latin typeface="Inter"/>
                <a:cs typeface="Inter"/>
              </a:rPr>
              <a:t>Texnologiyalar</a:t>
            </a:r>
          </a:p>
        </p:txBody>
      </p:sp>
      <p:sp>
        <p:nvSpPr>
          <p:cNvPr id="114" name="tb115"/>
          <p:cNvSpPr txBox="1"/>
          <p:nvPr/>
        </p:nvSpPr>
        <p:spPr>
          <a:xfrm>
            <a:off x="841248" y="2103120"/>
            <a:ext cx="3383280" cy="530352"/>
          </a:xfrm>
          <a:prstGeom prst="roundRect">
            <a:avLst/>
          </a:prstGeom>
          <a:solidFill>
            <a:srgbClr val="F4F3FB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50" b="1" i="0" dirty="0">
                <a:solidFill>
                  <a:srgbClr val="534AB7"/>
                </a:solidFill>
                <a:latin typeface="Inter"/>
                <a:cs typeface="Inter"/>
              </a:rPr>
              <a:t>Frontend + Backend</a:t>
            </a:r>
          </a:p>
        </p:txBody>
      </p:sp>
      <p:sp>
        <p:nvSpPr>
          <p:cNvPr id="116" name="tb117"/>
          <p:cNvSpPr txBox="1"/>
          <p:nvPr/>
        </p:nvSpPr>
        <p:spPr>
          <a:xfrm>
            <a:off x="4361688" y="2103120"/>
            <a:ext cx="6989064" cy="530352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00" b="0" i="0" dirty="0">
                <a:solidFill>
                  <a:srgbClr val="16151F"/>
                </a:solidFill>
                <a:latin typeface="Inter"/>
                <a:cs typeface="Inter"/>
              </a:rPr>
              <a:t>Next.js 15 · App Router · Server Actions · React 19</a:t>
            </a:r>
          </a:p>
        </p:txBody>
      </p:sp>
      <p:sp>
        <p:nvSpPr>
          <p:cNvPr id="118" name="tb119"/>
          <p:cNvSpPr txBox="1"/>
          <p:nvPr/>
        </p:nvSpPr>
        <p:spPr>
          <a:xfrm>
            <a:off x="841248" y="2743200"/>
            <a:ext cx="3383280" cy="530352"/>
          </a:xfrm>
          <a:prstGeom prst="roundRect">
            <a:avLst/>
          </a:prstGeom>
          <a:solidFill>
            <a:srgbClr val="F4F3FB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50" b="1" i="0" dirty="0">
                <a:solidFill>
                  <a:srgbClr val="534AB7"/>
                </a:solidFill>
                <a:latin typeface="Inter"/>
                <a:cs typeface="Inter"/>
              </a:rPr>
              <a:t>Dizayn</a:t>
            </a:r>
          </a:p>
        </p:txBody>
      </p:sp>
      <p:sp>
        <p:nvSpPr>
          <p:cNvPr id="120" name="tb121"/>
          <p:cNvSpPr txBox="1"/>
          <p:nvPr/>
        </p:nvSpPr>
        <p:spPr>
          <a:xfrm>
            <a:off x="4361688" y="2743200"/>
            <a:ext cx="6989064" cy="530352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00" b="0" i="0" dirty="0">
                <a:solidFill>
                  <a:srgbClr val="16151F"/>
                </a:solidFill>
                <a:latin typeface="Inter"/>
                <a:cs typeface="Inter"/>
              </a:rPr>
              <a:t>Tailwind CSS</a:t>
            </a:r>
          </a:p>
        </p:txBody>
      </p:sp>
      <p:sp>
        <p:nvSpPr>
          <p:cNvPr id="122" name="tb123"/>
          <p:cNvSpPr txBox="1"/>
          <p:nvPr/>
        </p:nvSpPr>
        <p:spPr>
          <a:xfrm>
            <a:off x="841248" y="3383280"/>
            <a:ext cx="3383280" cy="530352"/>
          </a:xfrm>
          <a:prstGeom prst="roundRect">
            <a:avLst/>
          </a:prstGeom>
          <a:solidFill>
            <a:srgbClr val="F4F3FB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50" b="1" i="0" dirty="0">
                <a:solidFill>
                  <a:srgbClr val="534AB7"/>
                </a:solidFill>
                <a:latin typeface="Inter"/>
                <a:cs typeface="Inter"/>
              </a:rPr>
              <a:t>DB / Auth / Realtime</a:t>
            </a:r>
          </a:p>
        </p:txBody>
      </p:sp>
      <p:sp>
        <p:nvSpPr>
          <p:cNvPr id="124" name="tb125"/>
          <p:cNvSpPr txBox="1"/>
          <p:nvPr/>
        </p:nvSpPr>
        <p:spPr>
          <a:xfrm>
            <a:off x="4361688" y="3383280"/>
            <a:ext cx="6989064" cy="530352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00" b="0" i="0" dirty="0">
                <a:solidFill>
                  <a:srgbClr val="16151F"/>
                </a:solidFill>
                <a:latin typeface="Inter"/>
                <a:cs typeface="Inter"/>
              </a:rPr>
              <a:t>Supabase (PostgreSQL · RLS · Triggerlar)</a:t>
            </a:r>
          </a:p>
        </p:txBody>
      </p:sp>
      <p:sp>
        <p:nvSpPr>
          <p:cNvPr id="126" name="tb127"/>
          <p:cNvSpPr txBox="1"/>
          <p:nvPr/>
        </p:nvSpPr>
        <p:spPr>
          <a:xfrm>
            <a:off x="841248" y="4023360"/>
            <a:ext cx="3383280" cy="530352"/>
          </a:xfrm>
          <a:prstGeom prst="roundRect">
            <a:avLst/>
          </a:prstGeom>
          <a:solidFill>
            <a:srgbClr val="F4F3FB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50" b="1" i="0" dirty="0">
                <a:solidFill>
                  <a:srgbClr val="534AB7"/>
                </a:solidFill>
                <a:latin typeface="Inter"/>
                <a:cs typeface="Inter"/>
              </a:rPr>
              <a:t>Rasm / Video</a:t>
            </a:r>
          </a:p>
        </p:txBody>
      </p:sp>
      <p:sp>
        <p:nvSpPr>
          <p:cNvPr id="128" name="tb129"/>
          <p:cNvSpPr txBox="1"/>
          <p:nvPr/>
        </p:nvSpPr>
        <p:spPr>
          <a:xfrm>
            <a:off x="4361688" y="4023360"/>
            <a:ext cx="6989064" cy="530352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00" b="0" i="0" dirty="0">
                <a:solidFill>
                  <a:srgbClr val="16151F"/>
                </a:solidFill>
                <a:latin typeface="Inter"/>
                <a:cs typeface="Inter"/>
              </a:rPr>
              <a:t>Supabase Storage</a:t>
            </a:r>
          </a:p>
        </p:txBody>
      </p:sp>
      <p:sp>
        <p:nvSpPr>
          <p:cNvPr id="130" name="tb131"/>
          <p:cNvSpPr txBox="1"/>
          <p:nvPr/>
        </p:nvSpPr>
        <p:spPr>
          <a:xfrm>
            <a:off x="841248" y="4663440"/>
            <a:ext cx="3383280" cy="530352"/>
          </a:xfrm>
          <a:prstGeom prst="roundRect">
            <a:avLst/>
          </a:prstGeom>
          <a:solidFill>
            <a:srgbClr val="F4F3FB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50" b="1" i="0" dirty="0">
                <a:solidFill>
                  <a:srgbClr val="534AB7"/>
                </a:solidFill>
                <a:latin typeface="Inter"/>
                <a:cs typeface="Inter"/>
              </a:rPr>
              <a:t>Push bildirishnoma</a:t>
            </a:r>
          </a:p>
        </p:txBody>
      </p:sp>
      <p:sp>
        <p:nvSpPr>
          <p:cNvPr id="132" name="tb133"/>
          <p:cNvSpPr txBox="1"/>
          <p:nvPr/>
        </p:nvSpPr>
        <p:spPr>
          <a:xfrm>
            <a:off x="4361688" y="4663440"/>
            <a:ext cx="6989064" cy="530352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00" b="0" i="0" dirty="0">
                <a:solidFill>
                  <a:srgbClr val="16151F"/>
                </a:solidFill>
                <a:latin typeface="Inter"/>
                <a:cs typeface="Inter"/>
              </a:rPr>
              <a:t>Firebase Cloud Messaging (FCM)</a:t>
            </a:r>
          </a:p>
        </p:txBody>
      </p:sp>
      <p:sp>
        <p:nvSpPr>
          <p:cNvPr id="134" name="tb135"/>
          <p:cNvSpPr txBox="1"/>
          <p:nvPr/>
        </p:nvSpPr>
        <p:spPr>
          <a:xfrm>
            <a:off x="841248" y="5303520"/>
            <a:ext cx="3383280" cy="530352"/>
          </a:xfrm>
          <a:prstGeom prst="roundRect">
            <a:avLst/>
          </a:prstGeom>
          <a:solidFill>
            <a:srgbClr val="F4F3FB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50" b="1" i="0" dirty="0">
                <a:solidFill>
                  <a:srgbClr val="534AB7"/>
                </a:solidFill>
                <a:latin typeface="Inter"/>
                <a:cs typeface="Inter"/>
              </a:rPr>
              <a:t>Qo'ng'iroq</a:t>
            </a:r>
          </a:p>
        </p:txBody>
      </p:sp>
      <p:sp>
        <p:nvSpPr>
          <p:cNvPr id="136" name="tb137"/>
          <p:cNvSpPr txBox="1"/>
          <p:nvPr/>
        </p:nvSpPr>
        <p:spPr>
          <a:xfrm>
            <a:off x="4361688" y="5303520"/>
            <a:ext cx="6989064" cy="530352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00" b="0" i="0" dirty="0">
                <a:solidFill>
                  <a:srgbClr val="16151F"/>
                </a:solidFill>
                <a:latin typeface="Inter"/>
                <a:cs typeface="Inter"/>
              </a:rPr>
              <a:t>WebRTC · Metered TURN</a:t>
            </a:r>
          </a:p>
        </p:txBody>
      </p:sp>
      <p:sp>
        <p:nvSpPr>
          <p:cNvPr id="138" name="tb139"/>
          <p:cNvSpPr txBox="1"/>
          <p:nvPr/>
        </p:nvSpPr>
        <p:spPr>
          <a:xfrm>
            <a:off x="841248" y="5943600"/>
            <a:ext cx="3383280" cy="530352"/>
          </a:xfrm>
          <a:prstGeom prst="roundRect">
            <a:avLst/>
          </a:prstGeom>
          <a:solidFill>
            <a:srgbClr val="F4F3FB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50" b="1" i="0" dirty="0">
                <a:solidFill>
                  <a:srgbClr val="534AB7"/>
                </a:solidFill>
                <a:latin typeface="Inter"/>
                <a:cs typeface="Inter"/>
              </a:rPr>
              <a:t>Deploy</a:t>
            </a:r>
          </a:p>
        </p:txBody>
      </p:sp>
      <p:sp>
        <p:nvSpPr>
          <p:cNvPr id="140" name="tb141"/>
          <p:cNvSpPr txBox="1"/>
          <p:nvPr/>
        </p:nvSpPr>
        <p:spPr>
          <a:xfrm>
            <a:off x="4361688" y="5943600"/>
            <a:ext cx="6989064" cy="530352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l"/>
            <a:r>
              <a:rPr lang="uz-UZ" sz="1400" b="0" i="0" dirty="0">
                <a:solidFill>
                  <a:srgbClr val="16151F"/>
                </a:solidFill>
                <a:latin typeface="Inter"/>
                <a:cs typeface="Inter"/>
              </a:rPr>
              <a:t>Vercel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63E9E"/>
            </a:gs>
            <a:gs pos="100000">
              <a:srgbClr val="1A1740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b143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B9B4E8"/>
                </a:solidFill>
                <a:latin typeface="Inter"/>
                <a:cs typeface="Inter"/>
              </a:rPr>
              <a:t>BOZOR VA AUDITORIYA</a:t>
            </a:r>
          </a:p>
        </p:txBody>
      </p:sp>
      <p:sp>
        <p:nvSpPr>
          <p:cNvPr id="144" name="tb145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FFFFFF"/>
                </a:solidFill>
                <a:latin typeface="Inter"/>
                <a:cs typeface="Inter"/>
              </a:rPr>
              <a:t>Kim foydalanadi?</a:t>
            </a:r>
          </a:p>
        </p:txBody>
      </p:sp>
      <p:sp>
        <p:nvSpPr>
          <p:cNvPr id="146" name="tb147"/>
          <p:cNvSpPr txBox="1"/>
          <p:nvPr/>
        </p:nvSpPr>
        <p:spPr>
          <a:xfrm>
            <a:off x="841248" y="2331720"/>
            <a:ext cx="2353056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000" b="0" i="0" dirty="0">
                <a:solidFill>
                  <a:srgbClr val="16151F"/>
                </a:solidFill>
                <a:latin typeface="Inter"/>
                <a:cs typeface="Inter"/>
              </a:rPr>
              <a:t>🎓</a:t>
            </a:r>
          </a:p>
          <a:p>
            <a:pPr algn="ctr">
              <a:spcBef>
                <a:spcPts val="600"/>
              </a:spcBef>
            </a:pPr>
            <a:r>
              <a:rPr lang="uz-UZ" sz="1600" b="1" i="0" dirty="0">
                <a:solidFill>
                  <a:srgbClr val="16151F"/>
                </a:solidFill>
                <a:latin typeface="Inter"/>
                <a:cs typeface="Inter"/>
              </a:rPr>
              <a:t>Talabalar</a:t>
            </a:r>
          </a:p>
          <a:p>
            <a:pPr algn="ctr">
              <a:spcBef>
                <a:spcPts val="3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va maktab o'quvchilari</a:t>
            </a:r>
          </a:p>
        </p:txBody>
      </p:sp>
      <p:sp>
        <p:nvSpPr>
          <p:cNvPr id="148" name="tb149"/>
          <p:cNvSpPr txBox="1"/>
          <p:nvPr/>
        </p:nvSpPr>
        <p:spPr>
          <a:xfrm>
            <a:off x="3560064" y="2331720"/>
            <a:ext cx="2353056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000" b="0" i="0" dirty="0">
                <a:solidFill>
                  <a:srgbClr val="16151F"/>
                </a:solidFill>
                <a:latin typeface="Inter"/>
                <a:cs typeface="Inter"/>
              </a:rPr>
              <a:t>💻</a:t>
            </a:r>
          </a:p>
          <a:p>
            <a:pPr algn="ctr">
              <a:spcBef>
                <a:spcPts val="600"/>
              </a:spcBef>
            </a:pPr>
            <a:r>
              <a:rPr lang="uz-UZ" sz="1600" b="1" i="0" dirty="0">
                <a:solidFill>
                  <a:srgbClr val="16151F"/>
                </a:solidFill>
                <a:latin typeface="Inter"/>
                <a:cs typeface="Inter"/>
              </a:rPr>
              <a:t>IT'ga kirayotganlar</a:t>
            </a:r>
          </a:p>
          <a:p>
            <a:pPr algn="ctr">
              <a:spcBef>
                <a:spcPts val="3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dasturlash, dizayn</a:t>
            </a:r>
          </a:p>
        </p:txBody>
      </p:sp>
      <p:sp>
        <p:nvSpPr>
          <p:cNvPr id="150" name="tb151"/>
          <p:cNvSpPr txBox="1"/>
          <p:nvPr/>
        </p:nvSpPr>
        <p:spPr>
          <a:xfrm>
            <a:off x="6278880" y="2331720"/>
            <a:ext cx="2353056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000" b="0" i="0" dirty="0">
                <a:solidFill>
                  <a:srgbClr val="16151F"/>
                </a:solidFill>
                <a:latin typeface="Inter"/>
                <a:cs typeface="Inter"/>
              </a:rPr>
              <a:t>🗣️</a:t>
            </a:r>
          </a:p>
          <a:p>
            <a:pPr algn="ctr">
              <a:spcBef>
                <a:spcPts val="600"/>
              </a:spcBef>
            </a:pPr>
            <a:r>
              <a:rPr lang="uz-UZ" sz="1600" b="1" i="0" dirty="0">
                <a:solidFill>
                  <a:srgbClr val="16151F"/>
                </a:solidFill>
                <a:latin typeface="Inter"/>
                <a:cs typeface="Inter"/>
              </a:rPr>
              <a:t>Til o'rganuvchilar</a:t>
            </a:r>
          </a:p>
          <a:p>
            <a:pPr algn="ctr">
              <a:spcBef>
                <a:spcPts val="3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ingliz, rus, arab...</a:t>
            </a:r>
          </a:p>
        </p:txBody>
      </p:sp>
      <p:sp>
        <p:nvSpPr>
          <p:cNvPr id="152" name="tb153"/>
          <p:cNvSpPr txBox="1"/>
          <p:nvPr/>
        </p:nvSpPr>
        <p:spPr>
          <a:xfrm>
            <a:off x="8997696" y="2331720"/>
            <a:ext cx="2353056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3000" b="0" i="0" dirty="0">
                <a:solidFill>
                  <a:srgbClr val="16151F"/>
                </a:solidFill>
                <a:latin typeface="Inter"/>
                <a:cs typeface="Inter"/>
              </a:rPr>
              <a:t>🤝</a:t>
            </a:r>
          </a:p>
          <a:p>
            <a:pPr algn="ctr">
              <a:spcBef>
                <a:spcPts val="600"/>
              </a:spcBef>
            </a:pPr>
            <a:r>
              <a:rPr lang="uz-UZ" sz="1600" b="1" i="0" dirty="0">
                <a:solidFill>
                  <a:srgbClr val="16151F"/>
                </a:solidFill>
                <a:latin typeface="Inter"/>
                <a:cs typeface="Inter"/>
              </a:rPr>
              <a:t>Mutaxassislar</a:t>
            </a:r>
          </a:p>
          <a:p>
            <a:pPr algn="ctr">
              <a:spcBef>
                <a:spcPts val="3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tajriba almashuvchilar</a:t>
            </a:r>
          </a:p>
        </p:txBody>
      </p:sp>
      <p:sp>
        <p:nvSpPr>
          <p:cNvPr id="154" name="tb155"/>
          <p:cNvSpPr txBox="1"/>
          <p:nvPr/>
        </p:nvSpPr>
        <p:spPr>
          <a:xfrm>
            <a:off x="841248" y="4892040"/>
            <a:ext cx="10509504" cy="64008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700" b="1" i="0" dirty="0">
                <a:solidFill>
                  <a:srgbClr val="FFFFFF"/>
                </a:solidFill>
                <a:latin typeface="Inter"/>
                <a:cs typeface="Inter"/>
              </a:rPr>
              <a:t>O'zbekistonda 10+ million yosh — o'rganishga tashna, raqamli avlod.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b157"/>
          <p:cNvSpPr txBox="1"/>
          <p:nvPr/>
        </p:nvSpPr>
        <p:spPr>
          <a:xfrm>
            <a:off x="841248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300" b="1" i="0" dirty="0">
                <a:solidFill>
                  <a:srgbClr val="534AB7"/>
                </a:solidFill>
                <a:latin typeface="Inter"/>
                <a:cs typeface="Inter"/>
              </a:rPr>
              <a:t>KELAJAK</a:t>
            </a:r>
          </a:p>
        </p:txBody>
      </p:sp>
      <p:sp>
        <p:nvSpPr>
          <p:cNvPr id="158" name="tb159"/>
          <p:cNvSpPr txBox="1"/>
          <p:nvPr/>
        </p:nvSpPr>
        <p:spPr>
          <a:xfrm>
            <a:off x="841248" y="1051560"/>
            <a:ext cx="10509504" cy="10058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4000" b="1" i="0" dirty="0">
                <a:solidFill>
                  <a:srgbClr val="16151F"/>
                </a:solidFill>
                <a:latin typeface="Inter"/>
                <a:cs typeface="Inter"/>
              </a:rPr>
              <a:t>Rivojlanish yo'l xaritasi</a:t>
            </a:r>
          </a:p>
        </p:txBody>
      </p:sp>
      <p:sp>
        <p:nvSpPr>
          <p:cNvPr id="160" name="tb161"/>
          <p:cNvSpPr txBox="1"/>
          <p:nvPr/>
        </p:nvSpPr>
        <p:spPr>
          <a:xfrm>
            <a:off x="841248" y="2377440"/>
            <a:ext cx="384048" cy="38404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endParaRPr lang="uz-UZ" sz="800"/>
          </a:p>
        </p:txBody>
      </p:sp>
      <p:sp>
        <p:nvSpPr>
          <p:cNvPr id="162" name="tb163"/>
          <p:cNvSpPr txBox="1"/>
          <p:nvPr/>
        </p:nvSpPr>
        <p:spPr>
          <a:xfrm>
            <a:off x="841248" y="2926080"/>
            <a:ext cx="235305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Bosqich 1 — MVP ✅</a:t>
            </a:r>
          </a:p>
          <a:p>
            <a:pPr algn="l">
              <a:spcBef>
                <a:spcPts val="5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Web platforma: auth, discovery, chat, video, gamifikatsiya.</a:t>
            </a:r>
          </a:p>
        </p:txBody>
      </p:sp>
      <p:sp>
        <p:nvSpPr>
          <p:cNvPr id="164" name="tb165"/>
          <p:cNvSpPr txBox="1"/>
          <p:nvPr/>
        </p:nvSpPr>
        <p:spPr>
          <a:xfrm>
            <a:off x="3560064" y="2377440"/>
            <a:ext cx="384048" cy="384048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endParaRPr lang="uz-UZ" sz="800"/>
          </a:p>
        </p:txBody>
      </p:sp>
      <p:sp>
        <p:nvSpPr>
          <p:cNvPr id="166" name="tb167"/>
          <p:cNvSpPr txBox="1"/>
          <p:nvPr/>
        </p:nvSpPr>
        <p:spPr>
          <a:xfrm>
            <a:off x="3560064" y="2926080"/>
            <a:ext cx="235305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Bosqich 2 — Mobil</a:t>
            </a:r>
          </a:p>
          <a:p>
            <a:pPr algn="l">
              <a:spcBef>
                <a:spcPts val="5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Android/iOS (PWA → native), to'liq push va qo'ng'iroqlar.</a:t>
            </a:r>
          </a:p>
        </p:txBody>
      </p:sp>
      <p:sp>
        <p:nvSpPr>
          <p:cNvPr id="168" name="tb169"/>
          <p:cNvSpPr txBox="1"/>
          <p:nvPr/>
        </p:nvSpPr>
        <p:spPr>
          <a:xfrm>
            <a:off x="6278880" y="2377440"/>
            <a:ext cx="384048" cy="384048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endParaRPr lang="uz-UZ" sz="800"/>
          </a:p>
        </p:txBody>
      </p:sp>
      <p:sp>
        <p:nvSpPr>
          <p:cNvPr id="170" name="tb171"/>
          <p:cNvSpPr txBox="1"/>
          <p:nvPr/>
        </p:nvSpPr>
        <p:spPr>
          <a:xfrm>
            <a:off x="6278880" y="2926080"/>
            <a:ext cx="235305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Bosqich 3 — Hamjamiyat</a:t>
            </a:r>
          </a:p>
          <a:p>
            <a:pPr algn="l">
              <a:spcBef>
                <a:spcPts val="5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Guruh darslari, tadbirlar, mentorlik dasturlari.</a:t>
            </a:r>
          </a:p>
        </p:txBody>
      </p:sp>
      <p:sp>
        <p:nvSpPr>
          <p:cNvPr id="172" name="tb173"/>
          <p:cNvSpPr txBox="1"/>
          <p:nvPr/>
        </p:nvSpPr>
        <p:spPr>
          <a:xfrm>
            <a:off x="8997696" y="2377440"/>
            <a:ext cx="384048" cy="384048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l"/>
            <a:endParaRPr lang="uz-UZ" sz="800"/>
          </a:p>
        </p:txBody>
      </p:sp>
      <p:sp>
        <p:nvSpPr>
          <p:cNvPr id="174" name="tb175"/>
          <p:cNvSpPr txBox="1"/>
          <p:nvPr/>
        </p:nvSpPr>
        <p:spPr>
          <a:xfrm>
            <a:off x="8997696" y="2926080"/>
            <a:ext cx="235305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6EF"/>
            </a:solidFill>
          </a:ln>
          <a:effectLst>
            <a:outerShdw blurRad="180000" dist="90000" dir="5400000" rotWithShape="0">
              <a:srgbClr val="100C2B">
                <a:alpha val="22000"/>
              </a:srgbClr>
            </a:outerShdw>
          </a:effectLst>
        </p:spPr>
        <p:txBody>
          <a:bodyPr wrap="square" lIns="118872" tIns="100584" rIns="118872" bIns="100584" anchor="t">
            <a:normAutofit/>
          </a:bodyPr>
          <a:lstStyle/>
          <a:p>
            <a:pPr algn="l"/>
            <a:r>
              <a:rPr lang="uz-UZ" sz="1550" b="1" i="0" dirty="0">
                <a:solidFill>
                  <a:srgbClr val="16151F"/>
                </a:solidFill>
                <a:latin typeface="Inter"/>
                <a:cs typeface="Inter"/>
              </a:rPr>
              <a:t>Bosqich 4 — Kengayish</a:t>
            </a:r>
          </a:p>
          <a:p>
            <a:pPr algn="l">
              <a:spcBef>
                <a:spcPts val="500"/>
              </a:spcBef>
            </a:pPr>
            <a:r>
              <a:rPr lang="uz-UZ" sz="1200" b="0" i="0" dirty="0">
                <a:solidFill>
                  <a:srgbClr val="5F5D70"/>
                </a:solidFill>
                <a:latin typeface="Inter"/>
                <a:cs typeface="Inter"/>
              </a:rPr>
              <a:t>Mintaqaviy bozorlar va sheriklik dasturlari.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A3380"/>
            </a:gs>
            <a:gs pos="55000">
              <a:srgbClr val="221D49"/>
            </a:gs>
            <a:gs pos="100000">
              <a:srgbClr val="14122B"/>
            </a:gs>
          </a:gsLst>
          <a:lin ang="30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badge"/>
          <p:cNvSpPr/>
          <p:nvPr/>
        </p:nvSpPr>
        <p:spPr>
          <a:xfrm>
            <a:off x="5661660" y="868680"/>
            <a:ext cx="868680" cy="868680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534AB7"/>
              </a:gs>
              <a:gs pos="100000">
                <a:srgbClr val="1D9E75"/>
              </a:gs>
            </a:gsLst>
            <a:lin ang="2700000" scaled="1"/>
          </a:gradFill>
          <a:ln>
            <a:noFill/>
          </a:ln>
        </p:spPr>
        <p:txBody>
          <a:bodyPr anchor="ctr"/>
          <a:lstStyle/>
          <a:p>
            <a:pPr algn="ctr"/>
            <a:r>
              <a:rPr lang="uz-UZ" sz="3200" b="1" i="0" dirty="0">
                <a:solidFill>
                  <a:srgbClr val="FFFFFF"/>
                </a:solidFill>
                <a:latin typeface="Inter"/>
                <a:cs typeface="Inter"/>
              </a:rPr>
              <a:t>Z</a:t>
            </a:r>
          </a:p>
        </p:txBody>
      </p:sp>
      <p:sp>
        <p:nvSpPr>
          <p:cNvPr id="177" name="tb178"/>
          <p:cNvSpPr txBox="1"/>
          <p:nvPr/>
        </p:nvSpPr>
        <p:spPr>
          <a:xfrm>
            <a:off x="0" y="1920240"/>
            <a:ext cx="12192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6000" b="1" i="0" dirty="0">
                <a:solidFill>
                  <a:srgbClr val="FFFFFF"/>
                </a:solidFill>
                <a:latin typeface="Inter"/>
                <a:cs typeface="Inter"/>
              </a:rPr>
              <a:t>Bugun boshlang</a:t>
            </a:r>
          </a:p>
        </p:txBody>
      </p:sp>
      <p:sp>
        <p:nvSpPr>
          <p:cNvPr id="179" name="tb180"/>
          <p:cNvSpPr txBox="1"/>
          <p:nvPr/>
        </p:nvSpPr>
        <p:spPr>
          <a:xfrm>
            <a:off x="0" y="3063240"/>
            <a:ext cx="1219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900" b="0" i="0" dirty="0">
                <a:solidFill>
                  <a:srgbClr val="C9C5EA"/>
                </a:solidFill>
                <a:latin typeface="Inter"/>
                <a:cs typeface="Inter"/>
              </a:rPr>
              <a:t>Bepul. Cheksiz. Faqat bilim almashinuvi.</a:t>
            </a:r>
          </a:p>
        </p:txBody>
      </p:sp>
      <p:sp>
        <p:nvSpPr>
          <p:cNvPr id="181" name="tb182"/>
          <p:cNvSpPr txBox="1"/>
          <p:nvPr/>
        </p:nvSpPr>
        <p:spPr>
          <a:xfrm>
            <a:off x="0" y="3657600"/>
            <a:ext cx="1219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600" b="1" i="1" dirty="0">
                <a:solidFill>
                  <a:srgbClr val="7FE7C4"/>
                </a:solidFill>
                <a:latin typeface="Inter"/>
                <a:cs typeface="Inter"/>
              </a:rPr>
              <a:t>Learn. Teach. Be remembered.</a:t>
            </a:r>
          </a:p>
        </p:txBody>
      </p:sp>
      <p:sp>
        <p:nvSpPr>
          <p:cNvPr id="183" name="tb184"/>
          <p:cNvSpPr txBox="1"/>
          <p:nvPr/>
        </p:nvSpPr>
        <p:spPr>
          <a:xfrm>
            <a:off x="2743200" y="4526280"/>
            <a:ext cx="2743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ctr"/>
            <a:r>
              <a:rPr lang="uz-UZ" sz="1600" b="1" i="0" dirty="0">
                <a:solidFill>
                  <a:srgbClr val="534AB7"/>
                </a:solidFill>
                <a:latin typeface="Inter"/>
                <a:cs typeface="Inter"/>
              </a:rPr>
              <a:t>📞  +998 91 891 70 07</a:t>
            </a:r>
          </a:p>
        </p:txBody>
      </p:sp>
      <p:sp>
        <p:nvSpPr>
          <p:cNvPr id="185" name="tb186"/>
          <p:cNvSpPr txBox="1"/>
          <p:nvPr/>
        </p:nvSpPr>
        <p:spPr>
          <a:xfrm>
            <a:off x="5806440" y="4526280"/>
            <a:ext cx="2743200" cy="685800"/>
          </a:xfrm>
          <a:prstGeom prst="roundRect">
            <a:avLst/>
          </a:prstGeom>
          <a:solidFill>
            <a:srgbClr val="229ED9"/>
          </a:solidFill>
          <a:ln>
            <a:noFill/>
          </a:ln>
        </p:spPr>
        <p:txBody>
          <a:bodyPr wrap="square" lIns="118872" tIns="100584" rIns="118872" bIns="100584" anchor="ctr">
            <a:normAutofit/>
          </a:bodyPr>
          <a:lstStyle/>
          <a:p>
            <a:pPr algn="ctr"/>
            <a:r>
              <a:rPr lang="uz-UZ" sz="1600" b="1" i="0" dirty="0">
                <a:solidFill>
                  <a:srgbClr val="FFFFFF"/>
                </a:solidFill>
                <a:latin typeface="Inter"/>
                <a:cs typeface="Inter"/>
              </a:rPr>
              <a:t>✈️  @asomiddinmeliboyev</a:t>
            </a:r>
          </a:p>
        </p:txBody>
      </p:sp>
      <p:sp>
        <p:nvSpPr>
          <p:cNvPr id="187" name="tb188"/>
          <p:cNvSpPr txBox="1"/>
          <p:nvPr/>
        </p:nvSpPr>
        <p:spPr>
          <a:xfrm>
            <a:off x="0" y="557784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18872" tIns="100584" rIns="118872" bIns="100584" anchor="t">
            <a:normAutofit/>
          </a:bodyPr>
          <a:lstStyle/>
          <a:p>
            <a:pPr algn="ctr"/>
            <a:r>
              <a:rPr lang="uz-UZ" sz="1100" b="0" i="0" dirty="0">
                <a:solidFill>
                  <a:srgbClr val="8B86B8"/>
                </a:solidFill>
                <a:latin typeface="Inter"/>
                <a:cs typeface="Inter"/>
              </a:rPr>
              <a:t>© Zikra — O'zbekistondagi birinchi bepul P2P ko'nikma almashish platformasi.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Zikra">
  <a:themeElements>
    <a:clrScheme name="Zikra">
      <a:dk1>
        <a:srgbClr val="16151F"/>
      </a:dk1>
      <a:lt1>
        <a:srgbClr val="FFFFFF"/>
      </a:lt1>
      <a:dk2>
        <a:srgbClr val="322C6E"/>
      </a:dk2>
      <a:lt2>
        <a:srgbClr val="EEEDF8"/>
      </a:lt2>
      <a:accent1>
        <a:srgbClr val="534AB7"/>
      </a:accent1>
      <a:accent2>
        <a:srgbClr val="1D9E75"/>
      </a:accent2>
      <a:accent3>
        <a:srgbClr val="D85A30"/>
      </a:accent3>
      <a:accent4>
        <a:srgbClr val="6A5FD6"/>
      </a:accent4>
      <a:accent5>
        <a:srgbClr val="7FE7C4"/>
      </a:accent5>
      <a:accent6>
        <a:srgbClr val="B9B4E8"/>
      </a:accent6>
      <a:hlink>
        <a:srgbClr val="534AB7"/>
      </a:hlink>
      <a:folHlink>
        <a:srgbClr val="1D9E75"/>
      </a:folHlink>
    </a:clrScheme>
    <a:fontScheme name="Zikr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Zikr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Zikra Slide Builder</Application>
  <Slides>11</Slides>
  <Company>Zikra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Zikra — Taqdimot</dc:title>
  <dc:creator>Zikra</dc:creator>
  <cp:lastModifiedBy>Zikra</cp:lastModifiedBy>
</cp:coreProperties>
</file>